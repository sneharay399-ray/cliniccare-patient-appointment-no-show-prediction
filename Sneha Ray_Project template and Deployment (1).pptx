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Libre Franklin"/>
      <p:regular r:id="rId23"/>
      <p:bold r:id="rId24"/>
      <p:italic r:id="rId25"/>
      <p:boldItalic r:id="rId26"/>
    </p:embeddedFont>
    <p:embeddedFont>
      <p:font typeface="Franklin Gothic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45nockGQTJE/zoF9G4G5MKZDr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F61B66-77BE-4F0B-8278-B9D5B2E2B7D3}">
  <a:tblStyle styleId="{16F61B66-77BE-4F0B-8278-B9D5B2E2B7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ibreFranklin-bold.fntdata"/><Relationship Id="rId23" Type="http://schemas.openxmlformats.org/officeDocument/2006/relationships/font" Target="fonts/LibreFrankli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Franklin-boldItalic.fntdata"/><Relationship Id="rId25" Type="http://schemas.openxmlformats.org/officeDocument/2006/relationships/font" Target="fonts/LibreFranklin-italic.fntdata"/><Relationship Id="rId28" Type="http://customschemas.google.com/relationships/presentationmetadata" Target="metadata"/><Relationship Id="rId27" Type="http://schemas.openxmlformats.org/officeDocument/2006/relationships/font" Target="fonts/FranklinGothi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9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581192" y="1302026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575894" y="729658"/>
            <a:ext cx="11029616" cy="5922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2"/>
          <p:cNvSpPr txBox="1"/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b="0" sz="360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581193" y="729658"/>
            <a:ext cx="11029616" cy="4928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581193" y="1391479"/>
            <a:ext cx="5194767" cy="4469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416039" y="1391479"/>
            <a:ext cx="5194769" cy="4469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1" name="Google Shape;51;p24"/>
          <p:cNvSpPr txBox="1"/>
          <p:nvPr>
            <p:ph idx="2" type="body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3" type="body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24"/>
          <p:cNvSpPr txBox="1"/>
          <p:nvPr>
            <p:ph idx="4" type="body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" name="Google Shape;56;p24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6"/>
          <p:cNvSpPr txBox="1"/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nklin Gothic"/>
              <a:buNone/>
              <a:defRPr b="0" sz="2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26"/>
          <p:cNvSpPr txBox="1"/>
          <p:nvPr>
            <p:ph idx="2" type="body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6" name="Google Shape;66;p26"/>
          <p:cNvSpPr txBox="1"/>
          <p:nvPr>
            <p:ph idx="10" type="dt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1" type="ftr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8" name="Google Shape;68;p26"/>
          <p:cNvSpPr txBox="1"/>
          <p:nvPr>
            <p:ph idx="12" type="sldNum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b="0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/>
          <p:nvPr>
            <p:ph idx="2" type="pic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7"/>
          <p:cNvSpPr txBox="1"/>
          <p:nvPr>
            <p:ph idx="1" type="body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" type="body"/>
          </p:nvPr>
        </p:nvSpPr>
        <p:spPr>
          <a:xfrm rot="5400000">
            <a:off x="3809574" y="-1813184"/>
            <a:ext cx="4572852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7914" lvl="0" marL="45720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SzPts val="1564"/>
              <a:buChar char="◼"/>
              <a:defRPr/>
            </a:lvl1pPr>
            <a:lvl2pPr indent="-310388" lvl="1" marL="914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2pPr>
            <a:lvl3pPr indent="-304546" lvl="2" marL="1371600" algn="l">
              <a:spcBef>
                <a:spcPts val="600"/>
              </a:spcBef>
              <a:spcAft>
                <a:spcPts val="0"/>
              </a:spcAft>
              <a:buSzPts val="1196"/>
              <a:buChar char="◼"/>
              <a:defRPr/>
            </a:lvl3pPr>
            <a:lvl4pPr indent="-292862" lvl="3" marL="1828800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4pPr>
            <a:lvl5pPr indent="-292862" lvl="4" marL="2286000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1" name="Google Shape;81;p28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9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9"/>
          <p:cNvSpPr txBox="1"/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" type="body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29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9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b="0" i="0" sz="28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7914" lvl="0" marL="457200" marR="0" rtl="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0388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546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292862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2862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8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&#10;&#10;Description automatically generated" id="17" name="Google Shape;17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85003" y="6437910"/>
            <a:ext cx="1125805" cy="3651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icte-batch1-resume-builder-fuurng7gntvmkafiuf6own.streamlit.app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1359108" y="1821635"/>
            <a:ext cx="9144000" cy="977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PATIENT APPOINTMENT &amp; NO-SHOW PREDICTION SYSTEM</a:t>
            </a:r>
            <a:endParaRPr b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052874" y="4420110"/>
            <a:ext cx="798018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Student Name- Sneha Ray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College Name- Maulana Abul Kalam Azad University of Technology, West Bengal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482AB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Department - BBA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4.   AICTE ID - STU6a63217bd69621784881531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849573" y="5584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1"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838200" y="1618938"/>
            <a:ext cx="11019020" cy="523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 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Problem Statement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(Should not include solution)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Proposed System/Solution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System Development Approach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(Technology Used)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Algorithm &amp; Deployment 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Conclusion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References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6686" lvl="0" marL="306000" rtl="0" algn="l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44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452403" y="1237632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b="1" lang="en-US" sz="2400" u="sng"/>
              <a:t>Patient Appointment &amp; No-Show Prediction System</a:t>
            </a:r>
            <a:endParaRPr sz="2400" u="sng"/>
          </a:p>
          <a:p>
            <a:pPr indent="0" lvl="0" marL="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208"/>
              <a:buNone/>
            </a:pPr>
            <a:r>
              <a:rPr lang="en-US" sz="2400"/>
              <a:t>Clinics frequently face appointment cancellations and patient no-shows, resulting in unused appointment slots, reduced operational efficiency and difficulty managing doctor schedules.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208"/>
              <a:buNone/>
            </a:pPr>
            <a:r>
              <a:rPr lang="en-US" sz="2400"/>
              <a:t>Clinic staff generally do not have an intelligent system to identify which upcoming appointments have a higher probability of being missed.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208"/>
              <a:buNone/>
            </a:pPr>
            <a:r>
              <a:rPr lang="en-US" sz="2400"/>
              <a:t>Therefore, there is a need for a system that can manage appointments while analyzing historical attendance information to identify potential no-show risk.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4400"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441671" y="1087378"/>
            <a:ext cx="5968365" cy="55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11963" lvl="0" marL="30543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n-US" sz="1600"/>
              <a:t>The proposed system, </a:t>
            </a:r>
            <a:r>
              <a:rPr b="1" lang="en-US" sz="1600"/>
              <a:t>ClinicCare</a:t>
            </a:r>
            <a:r>
              <a:rPr lang="en-US" sz="1600"/>
              <a:t>, is a healthcare appointment management and no-show prediction platform.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n-US" sz="1600"/>
              <a:t>It provides: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Patient registration and login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Doctor and department listing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Appointment booking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Appointment rescheduling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Appointment cancellation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Admin dashboard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No-show risk prediction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Reminder simulation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Appointment analytics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20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en-US" sz="1600"/>
              <a:t>Reports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6788727" y="2277377"/>
            <a:ext cx="4027055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Patient Appointment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Patient History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Feature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No-Show Prediction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Low / Medium / High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Reminder Recommendation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Admin Dashboard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910809" y="1596625"/>
            <a:ext cx="3782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Intelligent workflow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581192" y="662572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SYSTEM  APPROACH</a:t>
            </a:r>
            <a:endParaRPr sz="4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" name="Google Shape;124;p5"/>
          <p:cNvGraphicFramePr/>
          <p:nvPr/>
        </p:nvGraphicFramePr>
        <p:xfrm>
          <a:off x="581192" y="1422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{16F61B66-77BE-4F0B-8278-B9D5B2E2B7D3}</a:tableStyleId>
              </a:tblPr>
              <a:tblGrid>
                <a:gridCol w="4844200"/>
                <a:gridCol w="48442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ibre Franklin"/>
                        <a:buNone/>
                      </a:pPr>
                      <a:r>
                        <a:rPr lang="en-US" sz="2400" u="sng" cap="none" strike="noStrike"/>
                        <a:t>Component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ibre Franklin"/>
                        <a:buNone/>
                      </a:pPr>
                      <a:r>
                        <a:rPr lang="en-US" sz="2400" u="sng" cap="none" strike="noStrike"/>
                        <a:t>Technology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Frontend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React.js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Build Tool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Vite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Backend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[actual technology]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Database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[actual database]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Machine Learning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Python + scikit-learn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Charts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[actual library]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Authentication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[actual implementation]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Deployment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[platform]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Version Control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•"/>
                      </a:pPr>
                      <a:r>
                        <a:rPr lang="en-US" sz="2400" u="none" cap="none" strike="noStrike"/>
                        <a:t>Git + GitHub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ALGORITHM &amp; DEPLOYMENT</a:t>
            </a:r>
            <a:endParaRPr/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2156764" y="1612396"/>
            <a:ext cx="5514807" cy="4536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66"/>
              <a:buNone/>
            </a:pPr>
            <a:r>
              <a:rPr lang="en-US" sz="1050"/>
              <a:t> </a:t>
            </a:r>
            <a:endParaRPr sz="1000"/>
          </a:p>
        </p:txBody>
      </p:sp>
      <p:sp>
        <p:nvSpPr>
          <p:cNvPr id="131" name="Google Shape;131;p6"/>
          <p:cNvSpPr txBox="1"/>
          <p:nvPr/>
        </p:nvSpPr>
        <p:spPr>
          <a:xfrm>
            <a:off x="6096000" y="1807591"/>
            <a:ext cx="4785213" cy="1004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576"/>
              <a:buFont typeface="Noto Sans Symbols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Deployment:</a:t>
            </a:r>
            <a:r>
              <a:rPr b="0" i="0" lang="en-US" sz="28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Streamlit-based web application.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507756" y="1263046"/>
            <a:ext cx="60974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Workflow: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200" y="1263046"/>
            <a:ext cx="3176429" cy="511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6465053" y="3703131"/>
            <a:ext cx="5514807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No-show probability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Risk classification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LOW / MEDIUM / HIGH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pic>
        <p:nvPicPr>
          <p:cNvPr id="140" name="Google Shape;14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4329" y="1232452"/>
            <a:ext cx="8105938" cy="5326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212" y="1353375"/>
            <a:ext cx="7852284" cy="460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677" y="1232452"/>
            <a:ext cx="8165500" cy="5275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0245" y="1746567"/>
            <a:ext cx="5731510" cy="3364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3630" y="1232452"/>
            <a:ext cx="8299939" cy="5314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0245" y="1873250"/>
            <a:ext cx="5731510" cy="31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0053" y="1186454"/>
            <a:ext cx="9665101" cy="522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4000"/>
          </a:p>
        </p:txBody>
      </p:sp>
      <p:pic>
        <p:nvPicPr>
          <p:cNvPr id="167" name="Google Shape;167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570" y="1232452"/>
            <a:ext cx="9548178" cy="5098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0245" y="2181542"/>
            <a:ext cx="5731510" cy="2494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0584" y="1232452"/>
            <a:ext cx="10205838" cy="5175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581192" y="1302026"/>
            <a:ext cx="11029615" cy="4853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306000" lvl="0" marL="3060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en-US" sz="2000"/>
              <a:t>The </a:t>
            </a:r>
            <a:r>
              <a:rPr b="1" lang="en-US" sz="2000"/>
              <a:t>ClinicCare – Patient Appointment &amp; No-Show Prediction System</a:t>
            </a:r>
            <a:r>
              <a:rPr lang="en-US" sz="2000"/>
              <a:t> provides an integrated solution for managing healthcare appointments and identifying patients who may be at risk of missing their appointments.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70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en-US" sz="2000"/>
              <a:t>The system enables </a:t>
            </a:r>
            <a:r>
              <a:rPr b="1" lang="en-US" sz="2000"/>
              <a:t>patient registration, doctor selection, appointment booking, rescheduling, and cancellation</a:t>
            </a:r>
            <a:r>
              <a:rPr lang="en-US" sz="2000"/>
              <a:t>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70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en-US" sz="2000"/>
              <a:t>Separate dashboards are provided for </a:t>
            </a:r>
            <a:r>
              <a:rPr b="1" lang="en-US" sz="2000"/>
              <a:t>Patients, Doctors, and Administrators</a:t>
            </a:r>
            <a:r>
              <a:rPr lang="en-US" sz="2000"/>
              <a:t>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70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en-US" sz="2000"/>
              <a:t>A </a:t>
            </a:r>
            <a:r>
              <a:rPr b="1" lang="en-US" sz="2000"/>
              <a:t>Machine Learning model using Logistic Regression</a:t>
            </a:r>
            <a:r>
              <a:rPr lang="en-US" sz="2000"/>
              <a:t> predicts the probability of appointment no-shows.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70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en-US" sz="2000"/>
              <a:t>Appointments are classified into </a:t>
            </a:r>
            <a:r>
              <a:rPr b="1" lang="en-US" sz="2000"/>
              <a:t>Low, Medium, and High risk</a:t>
            </a:r>
            <a:r>
              <a:rPr lang="en-US" sz="2000"/>
              <a:t> categories.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70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en-US" sz="2000"/>
              <a:t>The system demonstrates an </a:t>
            </a:r>
            <a:r>
              <a:rPr b="1" lang="en-US" sz="2000"/>
              <a:t>Agentic AI workflow</a:t>
            </a:r>
            <a:r>
              <a:rPr lang="en-US" sz="2000"/>
              <a:t> by combining risk assessment, reminder scheduling, notification simulation, and dashboard updates.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70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en-US" sz="2000"/>
              <a:t>The Admin dashboard provides useful </a:t>
            </a:r>
            <a:r>
              <a:rPr b="1" lang="en-US" sz="2000"/>
              <a:t>appointment statistics, risk distribution, doctor load, and reports</a:t>
            </a:r>
            <a:r>
              <a:rPr lang="en-US" sz="2000"/>
              <a:t>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70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en-US" sz="2000"/>
              <a:t>The project demonstrates how </a:t>
            </a:r>
            <a:r>
              <a:rPr b="1" lang="en-US" sz="2000"/>
              <a:t>AI and automation can support better appointment management and clinic operations</a:t>
            </a:r>
            <a:r>
              <a:rPr lang="en-US" sz="2000"/>
              <a:t>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581192" y="1374955"/>
            <a:ext cx="11029615" cy="4837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6000" lvl="0" marL="3060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PostgreSQL Database:</a:t>
            </a:r>
            <a:r>
              <a:rPr lang="en-US" sz="1500"/>
              <a:t> Replace the current SQLite database with PostgreSQL for better production scalability and concurrent access.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Real SMS &amp; Email:</a:t>
            </a:r>
            <a:r>
              <a:rPr lang="en-US" sz="1500"/>
              <a:t> Integrate services such as Twilio and email APIs for actual appointment reminders.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Automatic Scheduling:</a:t>
            </a:r>
            <a:r>
              <a:rPr lang="en-US" sz="1500"/>
              <a:t> Introduce cron/job scheduling so the reminder workflow runs automatically without manual initiation.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Advanced ML Models:</a:t>
            </a:r>
            <a:r>
              <a:rPr lang="en-US" sz="1500"/>
              <a:t> Compare Logistic Regression with Random Forest, Gradient Boosting, or other suitable models.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Real Anonymised Data:</a:t>
            </a:r>
            <a:r>
              <a:rPr lang="en-US" sz="1500"/>
              <a:t> Retrain and validate the model using properly anonymised real-world data with appropriate ethical approval.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Real-Time Dashboard:</a:t>
            </a:r>
            <a:r>
              <a:rPr lang="en-US" sz="1500"/>
              <a:t> Add WebSocket-based updates so administrators can see appointment changes instantly.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Email Verification:</a:t>
            </a:r>
            <a:r>
              <a:rPr lang="en-US" sz="1500"/>
              <a:t> Add verification during patient registration.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Doctor Availability Management:</a:t>
            </a:r>
            <a:r>
              <a:rPr lang="en-US" sz="1500"/>
              <a:t> Allow doctors/admins to manage schedules and availability through a calendar.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Report Export:</a:t>
            </a:r>
            <a:r>
              <a:rPr lang="en-US" sz="1500"/>
              <a:t> Provide CSV/PDF export for appointment and analytics reports.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Mobile Application:</a:t>
            </a:r>
            <a:r>
              <a:rPr lang="en-US" sz="1500"/>
              <a:t> Develop a React Native mobile application for patients and healthcare staff. </a:t>
            </a:r>
            <a:endParaRPr/>
          </a:p>
          <a:p>
            <a:pPr indent="-306000" lvl="0" marL="3060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380"/>
              <a:buFont typeface="Arial"/>
              <a:buChar char="•"/>
            </a:pPr>
            <a:r>
              <a:rPr b="1" lang="en-US" sz="1500"/>
              <a:t>Telehealth:</a:t>
            </a:r>
            <a:r>
              <a:rPr lang="en-US" sz="1500"/>
              <a:t> Add video consultation capabilities for remote appointments.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535670" y="844659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581192" y="1174199"/>
            <a:ext cx="7013458" cy="4928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Python Documentation — Python Software Foundation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scikit-learn Documentation — Machine Learning in Python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Flask Documentation — Python Web Framework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React Documentation — User Interface Library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Vite Documentation — Frontend Build Tool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Node.js Documentation — JavaScript Runtime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SQLite Documentation — Database System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IBM Bob — AI-assisted Development Tool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ClinicCare Project README &amp; Documentation </a:t>
            </a:r>
            <a:endParaRPr/>
          </a:p>
          <a:p>
            <a:pPr indent="-1270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GitHub Repository — Project Source Code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US"/>
              <a:t>DEPLOYMENT LINK / GITHUB LINK</a:t>
            </a:r>
            <a:endParaRPr/>
          </a:p>
        </p:txBody>
      </p:sp>
      <p:sp>
        <p:nvSpPr>
          <p:cNvPr id="198" name="Google Shape;198;p16"/>
          <p:cNvSpPr txBox="1"/>
          <p:nvPr>
            <p:ph idx="1" type="body"/>
          </p:nvPr>
        </p:nvSpPr>
        <p:spPr>
          <a:xfrm>
            <a:off x="581192" y="1302026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5435" lvl="0" marL="30543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64"/>
              <a:buChar char="◼"/>
            </a:pPr>
            <a:r>
              <a:rPr lang="en-US"/>
              <a:t>Github Link: </a:t>
            </a:r>
            <a:r>
              <a:rPr lang="en-US"/>
              <a:t>https://github.com/sneharay399-ray/cliniccare-patient-appointment-no-show-prediction</a:t>
            </a:r>
            <a:endParaRPr/>
          </a:p>
          <a:p>
            <a:pPr indent="-305435" lvl="0" marL="305435" rtl="0" algn="l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Char char="◼"/>
            </a:pPr>
            <a:r>
              <a:rPr lang="en-US"/>
              <a:t>Deployment: HF, Streamlit Link, Gradio (OPTIONAL)</a:t>
            </a:r>
            <a:endParaRPr/>
          </a:p>
          <a:p>
            <a:pPr indent="-305435" lvl="0" marL="305435" rtl="0" algn="l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Char char="◼"/>
            </a:pPr>
            <a:r>
              <a:rPr lang="en-US" u="sng">
                <a:solidFill>
                  <a:schemeClr val="hlink"/>
                </a:solidFill>
                <a:hlinkClick r:id="rId3"/>
              </a:rPr>
              <a:t>Streamlit</a:t>
            </a:r>
            <a:r>
              <a:rPr lang="en-US"/>
              <a:t> : </a:t>
            </a:r>
            <a:r>
              <a:rPr lang="en-US"/>
              <a:t>https://cliniccare-patient-appointment-no-show-prediction-ory8qv66hdsd.streamlit.app/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1463041" y="2766218"/>
            <a:ext cx="929874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1"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2021-05-26T16:50:10Z</dcterms:created>
  <dc:creator>Vaibhav Ostwal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